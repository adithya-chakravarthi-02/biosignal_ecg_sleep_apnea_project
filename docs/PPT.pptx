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B6A25C-7D20-4C5E-9CDB-AAC202E60F46}" v="55" dt="2026-04-08T14:52:03.78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D521A-B7C5-C1E2-0642-7BD79DDC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417" y="1020248"/>
            <a:ext cx="4133850" cy="1533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91CA9B-D90B-5788-C9CC-1792348D0C3C}"/>
              </a:ext>
            </a:extLst>
          </p:cNvPr>
          <p:cNvSpPr txBox="1"/>
          <p:nvPr/>
        </p:nvSpPr>
        <p:spPr>
          <a:xfrm>
            <a:off x="2639961" y="2897999"/>
            <a:ext cx="6754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ECG-BASED SLEEP APNEA DETECTION USING MACHINE LEARNING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69" y="298510"/>
            <a:ext cx="2939847" cy="394433"/>
          </a:xfrm>
        </p:spPr>
        <p:txBody>
          <a:bodyPr/>
          <a:lstStyle/>
          <a:p>
            <a:r>
              <a:rPr lang="en-I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Introduction: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5" y="1071716"/>
            <a:ext cx="11267769" cy="5487774"/>
          </a:xfrm>
        </p:spPr>
        <p:txBody>
          <a:bodyPr>
            <a:normAutofit/>
          </a:bodyPr>
          <a:lstStyle/>
          <a:p>
            <a:r>
              <a:rPr lang="en-IN" dirty="0"/>
              <a:t>Sleep apnea is a serious sleep disorder causing interrupted breathing during sleep </a:t>
            </a:r>
          </a:p>
          <a:p>
            <a:r>
              <a:rPr lang="en-IN" dirty="0"/>
              <a:t>Leads to: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Poor sleep quality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Cardiovascular risks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Daytime fatigue </a:t>
            </a:r>
          </a:p>
          <a:p>
            <a:r>
              <a:rPr lang="en-IN" dirty="0"/>
              <a:t>Traditional diagnosis using Polysomnography (PSG) is: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Expensive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Complex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Requires hospital setup </a:t>
            </a:r>
          </a:p>
          <a:p>
            <a:r>
              <a:rPr lang="en-IN" b="1" dirty="0"/>
              <a:t> </a:t>
            </a:r>
            <a:r>
              <a:rPr lang="en-IN" dirty="0"/>
              <a:t>So the solution use ECG-based analysis for simple, cost-effective detection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33904"/>
            <a:ext cx="2379406" cy="373887"/>
          </a:xfrm>
        </p:spPr>
        <p:txBody>
          <a:bodyPr/>
          <a:lstStyle/>
          <a:p>
            <a:r>
              <a:rPr lang="en-I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Objective: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7E411-88A6-0C12-F262-30404D691B8F}"/>
              </a:ext>
            </a:extLst>
          </p:cNvPr>
          <p:cNvSpPr txBox="1"/>
          <p:nvPr/>
        </p:nvSpPr>
        <p:spPr>
          <a:xfrm>
            <a:off x="363794" y="1141159"/>
            <a:ext cx="113857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accent6"/>
                </a:solidFill>
              </a:rPr>
              <a:t>To develop a machine learning model for detecting sleep apnea using ECG signals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accent6"/>
                </a:solidFill>
              </a:rPr>
              <a:t>To classify: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6"/>
                </a:solidFill>
              </a:rPr>
              <a:t>Apnea patient ECG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6"/>
                </a:solidFill>
              </a:rPr>
              <a:t>Normal healthy ECG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accent6"/>
                </a:solidFill>
              </a:rPr>
              <a:t>To achieve: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6"/>
                </a:solidFill>
              </a:rPr>
              <a:t>High accuracy classification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6"/>
                </a:solidFill>
              </a:rPr>
              <a:t>Automated diagnosis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6"/>
                </a:solidFill>
              </a:rPr>
              <a:t>To enable future real-time wearable solutions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4" y="422727"/>
            <a:ext cx="4139382" cy="393290"/>
          </a:xfrm>
        </p:spPr>
        <p:txBody>
          <a:bodyPr/>
          <a:lstStyle/>
          <a:p>
            <a:r>
              <a:rPr lang="en-I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120997"/>
            <a:ext cx="11631561" cy="528975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/>
              <a:t>Manual diagnosis of sleep apnea is: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/>
              <a:t>Time-consuming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Requires expert interpretation </a:t>
            </a:r>
          </a:p>
          <a:p>
            <a:pPr>
              <a:lnSpc>
                <a:spcPct val="160000"/>
              </a:lnSpc>
            </a:pPr>
            <a:r>
              <a:rPr lang="en-US" dirty="0"/>
              <a:t>PSG-based systems are expensive and not accessible to all </a:t>
            </a:r>
          </a:p>
          <a:p>
            <a:pPr>
              <a:lnSpc>
                <a:spcPct val="160000"/>
              </a:lnSpc>
            </a:pPr>
            <a:r>
              <a:rPr lang="en-US" b="1" dirty="0"/>
              <a:t>Need for: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/>
              <a:t>Automated detection system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Low-cost alternative using ECG </a:t>
            </a:r>
          </a:p>
          <a:p>
            <a:pPr>
              <a:lnSpc>
                <a:spcPct val="160000"/>
              </a:lnSpc>
            </a:pPr>
            <a:r>
              <a:rPr lang="en-US" dirty="0"/>
              <a:t>Our ultimate aim is to detect apnea from ECG using ML with high reliability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139" y="143970"/>
            <a:ext cx="2635435" cy="576598"/>
          </a:xfrm>
        </p:spPr>
        <p:txBody>
          <a:bodyPr/>
          <a:lstStyle/>
          <a:p>
            <a:r>
              <a:rPr lang="en-I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Dataset:</a:t>
            </a:r>
            <a:endParaRPr lang="en-US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82139" y="1091380"/>
            <a:ext cx="9065732" cy="5034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ECG datasets collected from: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Sleep apnea patients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Normal healthy individuals </a:t>
            </a:r>
          </a:p>
          <a:p>
            <a:pPr marL="0" indent="0">
              <a:buNone/>
            </a:pPr>
            <a:r>
              <a:rPr lang="en-IN" sz="2000" dirty="0"/>
              <a:t>Data characteristics: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Single-channel ECG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Recorded during sleep </a:t>
            </a:r>
          </a:p>
          <a:p>
            <a:pPr marL="0" indent="0">
              <a:buNone/>
            </a:pPr>
            <a:r>
              <a:rPr lang="en-IN" sz="2000" dirty="0"/>
              <a:t>Dataset used for: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Training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Testing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Validation </a:t>
            </a:r>
          </a:p>
          <a:p>
            <a:pPr marL="0" indent="0">
              <a:buNone/>
            </a:pPr>
            <a:r>
              <a:rPr lang="en-IN" sz="2000" dirty="0"/>
              <a:t>Focus on real physiological signals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451" y="304800"/>
            <a:ext cx="3342968" cy="388143"/>
          </a:xfrm>
        </p:spPr>
        <p:txBody>
          <a:bodyPr/>
          <a:lstStyle/>
          <a:p>
            <a:r>
              <a:rPr lang="en-I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Pre-processing: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90451" y="929148"/>
            <a:ext cx="7403692" cy="56240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Raw ECG signals processed to improve quality: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Noise removal (Bandpass filtering)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Baseline correction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Normalization (Z-score) </a:t>
            </a:r>
          </a:p>
          <a:p>
            <a:pPr>
              <a:lnSpc>
                <a:spcPct val="150000"/>
              </a:lnSpc>
            </a:pPr>
            <a:r>
              <a:rPr lang="en-IN" dirty="0"/>
              <a:t>Feature extraction: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R-R intervals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Heart rate variability (HRV)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QRS complex features </a:t>
            </a:r>
          </a:p>
          <a:p>
            <a:pPr>
              <a:lnSpc>
                <a:spcPct val="150000"/>
              </a:lnSpc>
            </a:pPr>
            <a:r>
              <a:rPr lang="en-IN" dirty="0"/>
              <a:t>Ensures clean and meaningful input to model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281970"/>
            <a:ext cx="3283119" cy="425490"/>
          </a:xfrm>
        </p:spPr>
        <p:txBody>
          <a:bodyPr/>
          <a:lstStyle/>
          <a:p>
            <a:r>
              <a:rPr lang="en-I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Working: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103" y="1052052"/>
            <a:ext cx="8534400" cy="54077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Machine Learning model trained on ECG features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Input ECG signal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Extract features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Model learns normal vs apnea patterns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Predict unknown ECG 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detects: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Irregular breathing patterns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Variations in HRV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0" y="399578"/>
            <a:ext cx="4414684" cy="529110"/>
          </a:xfrm>
        </p:spPr>
        <p:txBody>
          <a:bodyPr/>
          <a:lstStyle/>
          <a:p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r>
              <a:rPr lang="en-US" dirty="0"/>
              <a:t> 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0440" y="1403020"/>
            <a:ext cx="4758812" cy="4771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1: Data Collection</a:t>
            </a:r>
          </a:p>
          <a:p>
            <a:pPr>
              <a:lnSpc>
                <a:spcPct val="150000"/>
              </a:lnSpc>
            </a:pPr>
            <a:r>
              <a:rPr lang="en-US" dirty="0"/>
              <a:t>ECG signals are collected from: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Sleep apnea patients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Healthy individuals </a:t>
            </a:r>
          </a:p>
          <a:p>
            <a:pPr>
              <a:lnSpc>
                <a:spcPct val="150000"/>
              </a:lnSpc>
            </a:pPr>
            <a:r>
              <a:rPr lang="en-US" dirty="0"/>
              <a:t>Data is recorded during sleep to capture real physiological variations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37567-DF99-049D-8529-C040B561DF0F}"/>
              </a:ext>
            </a:extLst>
          </p:cNvPr>
          <p:cNvSpPr txBox="1"/>
          <p:nvPr/>
        </p:nvSpPr>
        <p:spPr>
          <a:xfrm>
            <a:off x="5727444" y="1403020"/>
            <a:ext cx="619908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2: Preprocessing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/>
                </a:solidFill>
              </a:rPr>
              <a:t>Raw ECG signals are cleaned to remove noise and artifacts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/>
                </a:solidFill>
              </a:rPr>
              <a:t>Bandpass filtering removes unwanted frequencies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/>
                </a:solidFill>
              </a:rPr>
              <a:t>Normalization standardizes signal amplitude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/>
                </a:solidFill>
              </a:rPr>
              <a:t>Segmentation divides signals into smaller windows for analysis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/>
                </a:solidFill>
              </a:rPr>
              <a:t>Ensures clean and consistent input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63559" y="707460"/>
            <a:ext cx="7767486" cy="61505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3: Feature Extraction</a:t>
            </a:r>
          </a:p>
          <a:p>
            <a:pPr>
              <a:lnSpc>
                <a:spcPct val="150000"/>
              </a:lnSpc>
            </a:pPr>
            <a:r>
              <a:rPr lang="en-IN" dirty="0"/>
              <a:t>Important features are extracted from ECG: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R-R intervals → time between heartbeats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HRV (Heart Rate Variability) → variation in heart rhythm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QRS complex features → cardiac activity patterns </a:t>
            </a:r>
          </a:p>
          <a:p>
            <a:pPr>
              <a:lnSpc>
                <a:spcPct val="150000"/>
              </a:lnSpc>
            </a:pPr>
            <a:r>
              <a:rPr lang="en-IN" dirty="0"/>
              <a:t>These features help the model distinguish apnea from normal signals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6644" y="1150373"/>
            <a:ext cx="5437239" cy="5456903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4: Model Training</a:t>
            </a:r>
          </a:p>
          <a:p>
            <a:pPr>
              <a:lnSpc>
                <a:spcPct val="150000"/>
              </a:lnSpc>
            </a:pPr>
            <a:r>
              <a:rPr lang="en-US" dirty="0"/>
              <a:t>The ML model is trained using labeled ECG data (Apnea / Normal) </a:t>
            </a:r>
          </a:p>
          <a:p>
            <a:pPr>
              <a:lnSpc>
                <a:spcPct val="150000"/>
              </a:lnSpc>
            </a:pPr>
            <a:r>
              <a:rPr lang="en-US" dirty="0"/>
              <a:t>Extracted features are given as input to the model </a:t>
            </a:r>
          </a:p>
          <a:p>
            <a:pPr>
              <a:lnSpc>
                <a:spcPct val="150000"/>
              </a:lnSpc>
            </a:pPr>
            <a:r>
              <a:rPr lang="en-US" dirty="0"/>
              <a:t>The model learns patterns and relationships in the data </a:t>
            </a:r>
          </a:p>
          <a:p>
            <a:pPr>
              <a:lnSpc>
                <a:spcPct val="150000"/>
              </a:lnSpc>
            </a:pPr>
            <a:r>
              <a:rPr lang="en-US" dirty="0"/>
              <a:t>It forms decision boundaries to separate: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Normal ECG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Apnea ECG </a:t>
            </a:r>
          </a:p>
          <a:p>
            <a:pPr>
              <a:lnSpc>
                <a:spcPct val="150000"/>
              </a:lnSpc>
            </a:pPr>
            <a:r>
              <a:rPr lang="en-US" dirty="0"/>
              <a:t>Enables the model to automatically classify new signals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1882E7-1301-BB50-AB78-F5791B7B8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46606" y="1076631"/>
            <a:ext cx="5730338" cy="560438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5: Testing &amp; Validation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trained model is tested on unseen ECG data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the model is not just memorizing but generalizing well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Performance Evaluation: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Accuracy → Overall correct predictions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Precision → How many predicted apnea cases are correct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Recall → How well actual apnea cases are detected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Confirms the reliability and effectiveness of the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553" y="569630"/>
            <a:ext cx="3572041" cy="340531"/>
          </a:xfrm>
        </p:spPr>
        <p:txBody>
          <a:bodyPr/>
          <a:lstStyle/>
          <a:p>
            <a:r>
              <a:rPr lang="en-I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&amp; Inference</a:t>
            </a:r>
            <a:endParaRPr lang="en-US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0414" y="1136266"/>
            <a:ext cx="11101562" cy="515210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Achieved classification accuracy: </a:t>
            </a:r>
            <a:r>
              <a:rPr lang="en-IN" sz="2600" b="1" dirty="0"/>
              <a:t>96%</a:t>
            </a:r>
            <a:r>
              <a:rPr lang="en-IN" sz="2600" dirty="0"/>
              <a:t>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High performance in distinguishing: </a:t>
            </a:r>
            <a:r>
              <a:rPr lang="en-IN" sz="2600" b="1" dirty="0"/>
              <a:t>Apnea vs Normal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600" b="1" dirty="0"/>
              <a:t>Performance Insights: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600" dirty="0"/>
              <a:t>Model effectively captures: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Subtle ECG variations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Sleep-related physiological changes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/>
              <a:t>Inference: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ECG is a strong indicator of sleep apnea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ML model reduces dependency on manual analysis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Suitable for early diagnosis and screening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/>
              <a:t>Significance: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Cost-effective alternative to PSG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Can be used for continuous monitoring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93FAE-7B3D-3B29-EC09-3EF5D9CFF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777" y="2180427"/>
            <a:ext cx="6326947" cy="214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199"/>
            <a:ext cx="4316362" cy="270694"/>
          </a:xfrm>
        </p:spPr>
        <p:txBody>
          <a:bodyPr/>
          <a:lstStyle/>
          <a:p>
            <a:r>
              <a:rPr lang="en-I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&amp; Future Work</a:t>
            </a:r>
            <a:endParaRPr lang="en-US" sz="1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290ED-E42A-F4D5-9272-971F7AC429CA}"/>
              </a:ext>
            </a:extLst>
          </p:cNvPr>
          <p:cNvSpPr txBox="1"/>
          <p:nvPr/>
        </p:nvSpPr>
        <p:spPr>
          <a:xfrm>
            <a:off x="501445" y="496527"/>
            <a:ext cx="47489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b="1" dirty="0">
              <a:solidFill>
                <a:schemeClr val="accent6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Successfully developed an ECG-based apnea detection system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Achieved high accuracy using ML techniques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/>
                </a:solidFill>
              </a:rPr>
              <a:t>Demonstrated that: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Single-channel ECG is sufficient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Automated detection is feasible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/>
                </a:solidFill>
              </a:rPr>
              <a:t>Advantages: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Non-invasive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Cost-effective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</a:rPr>
              <a:t>Easy to deploy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433ED-E918-BE87-4A32-C6AB52C6FDAF}"/>
              </a:ext>
            </a:extLst>
          </p:cNvPr>
          <p:cNvSpPr txBox="1"/>
          <p:nvPr/>
        </p:nvSpPr>
        <p:spPr>
          <a:xfrm>
            <a:off x="5968179" y="737726"/>
            <a:ext cx="5722375" cy="500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Work: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🔸 Real-time monitoring system 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Integration with wearable devices 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🔸 Deep Learning Models 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CNN / LSTM for improved accuracy 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🔸 Multi-class classification 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Sleep stage detection (Wake, REM, etc.) 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🔸 Hardware implementation </a:t>
            </a:r>
          </a:p>
          <a:p>
            <a:pPr lvl="1">
              <a:lnSpc>
                <a:spcPct val="200000"/>
              </a:lnSpc>
            </a:pPr>
            <a:r>
              <a:rPr lang="en-IN" dirty="0">
                <a:solidFill>
                  <a:schemeClr val="accent6"/>
                </a:solidFill>
              </a:rPr>
              <a:t>Portable ECG-based apnea detection device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{B16DDA78-8EE9-4208-AC62-2D9B03C57773}TF8a9b5915-b8c7-461e-8cdd-693d48b5e32371f7b7e2_win32-4bf0b9a2ea37</Template>
  <TotalTime>63</TotalTime>
  <Words>630</Words>
  <Application>Microsoft Office PowerPoint</Application>
  <PresentationFormat>Widescreen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PowerPoint Presentation</vt:lpstr>
      <vt:lpstr>Introduction:</vt:lpstr>
      <vt:lpstr>Objective:</vt:lpstr>
      <vt:lpstr>Problem Statement</vt:lpstr>
      <vt:lpstr>Dataset:</vt:lpstr>
      <vt:lpstr>Pre-processing:</vt:lpstr>
      <vt:lpstr>Model Working:</vt:lpstr>
      <vt:lpstr>METHODOLOGY </vt:lpstr>
      <vt:lpstr>PowerPoint Presentation</vt:lpstr>
      <vt:lpstr>PowerPoint Presentation</vt:lpstr>
      <vt:lpstr>Results &amp; Inference</vt:lpstr>
      <vt:lpstr>Conclusion &amp; Future Work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Swedha Perumal</dc:creator>
  <cp:lastModifiedBy>Adithya TC</cp:lastModifiedBy>
  <cp:revision>4</cp:revision>
  <dcterms:created xsi:type="dcterms:W3CDTF">2026-04-08T13:53:33Z</dcterms:created>
  <dcterms:modified xsi:type="dcterms:W3CDTF">2026-04-08T19:09:17Z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